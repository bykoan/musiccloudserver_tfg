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18"/>
    <p:sldId id="272" r:id="rId19"/>
    <p:sldId id="273" r:id="rId20"/>
    <p:sldId id="274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3903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.png"/><Relationship Id="rId4" Type="http://schemas.openxmlformats.org/officeDocument/2006/relationships/image" Target="../media/image4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10" Type="http://schemas.openxmlformats.org/officeDocument/2006/relationships/image" Target="../media/image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3" name="Shape 1"/>
          <p:cNvSpPr/>
          <p:nvPr/>
        </p:nvSpPr>
        <p:spPr>
          <a:xfrm>
            <a:off x="5303520" y="0"/>
            <a:ext cx="54864" cy="514350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48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11887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PulseStream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365760" y="2103120"/>
            <a:ext cx="1371600" cy="54864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365760" y="2240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servidor de música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privado en la nube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6576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6576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Superior DAM ·  2026 · IES Ribera de Castilla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0" y="9144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5669280" y="9144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5760720" y="9692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Flask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315200" y="9144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7315200" y="9144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7406640" y="9692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0" y="18288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669280" y="18288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760720" y="18836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15200" y="18288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7315200" y="18288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7406640" y="18836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(Kotlin)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669280" y="27432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5669280" y="27432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5760720" y="27980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315200" y="27432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315200" y="27432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406640" y="27980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PyQt6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669280" y="36576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5669280" y="36576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5760720" y="37124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315200" y="3657600"/>
            <a:ext cx="146304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7315200" y="3657600"/>
            <a:ext cx="36576" cy="384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7406640" y="37124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000" dirty="0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480560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57784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github.com/ByKoan/PulseStream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contenidos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743200" cy="5029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56617" y="1005840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007364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10561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6617" y="1645920"/>
            <a:ext cx="2743200" cy="50291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02920" y="1641349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86968" y="169240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general del sistema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2260854"/>
            <a:ext cx="2743200" cy="50291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502920" y="2256285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86968" y="2315721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Flask &amp; API REST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79" y="2914653"/>
            <a:ext cx="2688338" cy="512824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75488" y="2924557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6968" y="2983993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MySQL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79" y="3601212"/>
            <a:ext cx="2688338" cy="512824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75488" y="3605315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" y="3664751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YouTube (yt-dlp)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41549" y="1019948"/>
            <a:ext cx="2743200" cy="50291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351277" y="102909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2757" y="1086527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con Docker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82696" y="1670823"/>
            <a:ext cx="2702053" cy="486913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351277" y="16628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762757" y="1714003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remoto: Ngrok &amp; ZeroTier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50694" y="2274962"/>
            <a:ext cx="2743200" cy="48799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3351277" y="2270834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753613" y="236011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Visualizador Desktop (PyQt6)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36977" y="2925004"/>
            <a:ext cx="2743200" cy="48799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3351277" y="2924362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3753613" y="297879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Visualizador Android (Kotlin)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41549" y="3598556"/>
            <a:ext cx="2743200" cy="486156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3351277" y="3615462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3753613" y="364388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autenticación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184828" y="1007649"/>
            <a:ext cx="2743200" cy="52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6" name="Text 44"/>
          <p:cNvSpPr/>
          <p:nvPr/>
        </p:nvSpPr>
        <p:spPr>
          <a:xfrm>
            <a:off x="6327648" y="10058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766560" y="1089289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y calidad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92776" y="1648301"/>
            <a:ext cx="2743200" cy="505617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0" name="Text 48"/>
          <p:cNvSpPr/>
          <p:nvPr/>
        </p:nvSpPr>
        <p:spPr>
          <a:xfrm>
            <a:off x="6327648" y="1659636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6739128" y="1725725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datos (Dataflow)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184828" y="2276796"/>
            <a:ext cx="2743200" cy="505617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4" name="Text 52"/>
          <p:cNvSpPr/>
          <p:nvPr/>
        </p:nvSpPr>
        <p:spPr>
          <a:xfrm>
            <a:off x="6325488" y="2301908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6766560" y="234286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principales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84828" y="2915863"/>
            <a:ext cx="2743200" cy="503225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8" name="Text 56"/>
          <p:cNvSpPr/>
          <p:nvPr/>
        </p:nvSpPr>
        <p:spPr>
          <a:xfrm>
            <a:off x="6325488" y="2932236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6766560" y="2974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y dependencias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181347" y="3589320"/>
            <a:ext cx="2743200" cy="501884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2" name="Text 60"/>
          <p:cNvSpPr/>
          <p:nvPr/>
        </p:nvSpPr>
        <p:spPr>
          <a:xfrm>
            <a:off x="6325488" y="3588284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6739128" y="365610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JavaScript</a:t>
            </a:r>
            <a:endParaRPr lang="en-US" sz="1050" dirty="0"/>
          </a:p>
        </p:txBody>
      </p:sp>
      <p:sp>
        <p:nvSpPr>
          <p:cNvPr id="192" name="Shape 3">
            <a:extLst>
              <a:ext uri="{FF2B5EF4-FFF2-40B4-BE49-F238E27FC236}">
                <a16:creationId xmlns:a16="http://schemas.microsoft.com/office/drawing/2014/main" id="{5D95711C-DA89-BED0-4BF2-F2CA3074700A}"/>
              </a:ext>
            </a:extLst>
          </p:cNvPr>
          <p:cNvSpPr/>
          <p:nvPr/>
        </p:nvSpPr>
        <p:spPr>
          <a:xfrm>
            <a:off x="365760" y="1645920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5" name="Shape 3">
            <a:extLst>
              <a:ext uri="{FF2B5EF4-FFF2-40B4-BE49-F238E27FC236}">
                <a16:creationId xmlns:a16="http://schemas.microsoft.com/office/drawing/2014/main" id="{850C2F61-AE58-30DC-DC1D-046443F5CBB1}"/>
              </a:ext>
            </a:extLst>
          </p:cNvPr>
          <p:cNvSpPr/>
          <p:nvPr/>
        </p:nvSpPr>
        <p:spPr>
          <a:xfrm>
            <a:off x="376999" y="2260852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6" name="Shape 3">
            <a:extLst>
              <a:ext uri="{FF2B5EF4-FFF2-40B4-BE49-F238E27FC236}">
                <a16:creationId xmlns:a16="http://schemas.microsoft.com/office/drawing/2014/main" id="{E4297DAA-6656-6470-F1D7-D0DAF68E38F1}"/>
              </a:ext>
            </a:extLst>
          </p:cNvPr>
          <p:cNvSpPr/>
          <p:nvPr/>
        </p:nvSpPr>
        <p:spPr>
          <a:xfrm>
            <a:off x="365189" y="2916170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7" name="Shape 3">
            <a:extLst>
              <a:ext uri="{FF2B5EF4-FFF2-40B4-BE49-F238E27FC236}">
                <a16:creationId xmlns:a16="http://schemas.microsoft.com/office/drawing/2014/main" id="{CBA9E04F-5066-5959-0247-032BC9CBA182}"/>
              </a:ext>
            </a:extLst>
          </p:cNvPr>
          <p:cNvSpPr/>
          <p:nvPr/>
        </p:nvSpPr>
        <p:spPr>
          <a:xfrm>
            <a:off x="363569" y="3605317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8" name="Shape 3">
            <a:extLst>
              <a:ext uri="{FF2B5EF4-FFF2-40B4-BE49-F238E27FC236}">
                <a16:creationId xmlns:a16="http://schemas.microsoft.com/office/drawing/2014/main" id="{5657A884-4A68-0C01-31E1-0B9CD02DA844}"/>
              </a:ext>
            </a:extLst>
          </p:cNvPr>
          <p:cNvSpPr/>
          <p:nvPr/>
        </p:nvSpPr>
        <p:spPr>
          <a:xfrm>
            <a:off x="3236977" y="1019948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9" name="Shape 3">
            <a:extLst>
              <a:ext uri="{FF2B5EF4-FFF2-40B4-BE49-F238E27FC236}">
                <a16:creationId xmlns:a16="http://schemas.microsoft.com/office/drawing/2014/main" id="{007CD46B-3E9A-2CF1-737B-D85ACF1A7F90}"/>
              </a:ext>
            </a:extLst>
          </p:cNvPr>
          <p:cNvSpPr/>
          <p:nvPr/>
        </p:nvSpPr>
        <p:spPr>
          <a:xfrm>
            <a:off x="3250694" y="1672222"/>
            <a:ext cx="45719" cy="48615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5" name="Shape 3">
            <a:extLst>
              <a:ext uri="{FF2B5EF4-FFF2-40B4-BE49-F238E27FC236}">
                <a16:creationId xmlns:a16="http://schemas.microsoft.com/office/drawing/2014/main" id="{4C87591A-4515-55E4-52D2-BAAB40F8972F}"/>
              </a:ext>
            </a:extLst>
          </p:cNvPr>
          <p:cNvSpPr/>
          <p:nvPr/>
        </p:nvSpPr>
        <p:spPr>
          <a:xfrm>
            <a:off x="3246123" y="2276796"/>
            <a:ext cx="45719" cy="48615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6" name="Shape 3">
            <a:extLst>
              <a:ext uri="{FF2B5EF4-FFF2-40B4-BE49-F238E27FC236}">
                <a16:creationId xmlns:a16="http://schemas.microsoft.com/office/drawing/2014/main" id="{5843E09E-80A8-8DCD-07EB-D5C3C35A43B6}"/>
              </a:ext>
            </a:extLst>
          </p:cNvPr>
          <p:cNvSpPr/>
          <p:nvPr/>
        </p:nvSpPr>
        <p:spPr>
          <a:xfrm>
            <a:off x="3238758" y="2925004"/>
            <a:ext cx="45719" cy="48615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7" name="Shape 3">
            <a:extLst>
              <a:ext uri="{FF2B5EF4-FFF2-40B4-BE49-F238E27FC236}">
                <a16:creationId xmlns:a16="http://schemas.microsoft.com/office/drawing/2014/main" id="{6C8F199D-C0B4-4F86-700D-D34A7A2B2BDB}"/>
              </a:ext>
            </a:extLst>
          </p:cNvPr>
          <p:cNvSpPr/>
          <p:nvPr/>
        </p:nvSpPr>
        <p:spPr>
          <a:xfrm>
            <a:off x="3246123" y="3605048"/>
            <a:ext cx="45719" cy="48615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8" name="Shape 3">
            <a:extLst>
              <a:ext uri="{FF2B5EF4-FFF2-40B4-BE49-F238E27FC236}">
                <a16:creationId xmlns:a16="http://schemas.microsoft.com/office/drawing/2014/main" id="{6B20EF38-A813-190E-0E6E-088604E770EA}"/>
              </a:ext>
            </a:extLst>
          </p:cNvPr>
          <p:cNvSpPr/>
          <p:nvPr/>
        </p:nvSpPr>
        <p:spPr>
          <a:xfrm>
            <a:off x="6184828" y="1014986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9" name="Shape 3">
            <a:extLst>
              <a:ext uri="{FF2B5EF4-FFF2-40B4-BE49-F238E27FC236}">
                <a16:creationId xmlns:a16="http://schemas.microsoft.com/office/drawing/2014/main" id="{C2F8F9BE-D39B-979F-8C46-C2E83B85309C}"/>
              </a:ext>
            </a:extLst>
          </p:cNvPr>
          <p:cNvSpPr/>
          <p:nvPr/>
        </p:nvSpPr>
        <p:spPr>
          <a:xfrm>
            <a:off x="6192776" y="1651000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0" name="Shape 3">
            <a:extLst>
              <a:ext uri="{FF2B5EF4-FFF2-40B4-BE49-F238E27FC236}">
                <a16:creationId xmlns:a16="http://schemas.microsoft.com/office/drawing/2014/main" id="{E7F0B1CF-9DC9-940C-A33F-50017687EBFA}"/>
              </a:ext>
            </a:extLst>
          </p:cNvPr>
          <p:cNvSpPr/>
          <p:nvPr/>
        </p:nvSpPr>
        <p:spPr>
          <a:xfrm>
            <a:off x="6183507" y="2274962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1" name="Shape 3">
            <a:extLst>
              <a:ext uri="{FF2B5EF4-FFF2-40B4-BE49-F238E27FC236}">
                <a16:creationId xmlns:a16="http://schemas.microsoft.com/office/drawing/2014/main" id="{21417599-1DB8-C8C9-F3B0-9B9702324DD0}"/>
              </a:ext>
            </a:extLst>
          </p:cNvPr>
          <p:cNvSpPr/>
          <p:nvPr/>
        </p:nvSpPr>
        <p:spPr>
          <a:xfrm>
            <a:off x="6184828" y="2914653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2" name="Shape 3">
            <a:extLst>
              <a:ext uri="{FF2B5EF4-FFF2-40B4-BE49-F238E27FC236}">
                <a16:creationId xmlns:a16="http://schemas.microsoft.com/office/drawing/2014/main" id="{895ED5E3-ADDA-5BE6-2633-3DD6898ABBB8}"/>
              </a:ext>
            </a:extLst>
          </p:cNvPr>
          <p:cNvSpPr/>
          <p:nvPr/>
        </p:nvSpPr>
        <p:spPr>
          <a:xfrm>
            <a:off x="6181347" y="3585937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3" name="Shape 3">
            <a:extLst>
              <a:ext uri="{FF2B5EF4-FFF2-40B4-BE49-F238E27FC236}">
                <a16:creationId xmlns:a16="http://schemas.microsoft.com/office/drawing/2014/main" id="{C5D2DE64-86D1-9447-3FDE-5002B564845B}"/>
              </a:ext>
            </a:extLst>
          </p:cNvPr>
          <p:cNvSpPr/>
          <p:nvPr/>
        </p:nvSpPr>
        <p:spPr>
          <a:xfrm>
            <a:off x="3247141" y="4219437"/>
            <a:ext cx="45719" cy="50291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4" name="Shape 58">
            <a:extLst>
              <a:ext uri="{FF2B5EF4-FFF2-40B4-BE49-F238E27FC236}">
                <a16:creationId xmlns:a16="http://schemas.microsoft.com/office/drawing/2014/main" id="{34E7589A-DC42-4083-9D15-856AE5D34D98}"/>
              </a:ext>
            </a:extLst>
          </p:cNvPr>
          <p:cNvSpPr/>
          <p:nvPr/>
        </p:nvSpPr>
        <p:spPr>
          <a:xfrm>
            <a:off x="3296413" y="4219437"/>
            <a:ext cx="2688336" cy="501884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5" name="Text idx16num"/>
          <p:cNvSpPr/>
          <p:nvPr/>
        </p:nvSpPr>
        <p:spPr>
          <a:xfrm>
            <a:off x="3351277" y="4221313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B954"/>
                </a:solidFill>
                <a:latin typeface="Calibri" pitchFamily="34" charset="0"/>
              </a:rPr>
              <a:t>16</a:t>
            </a:r>
          </a:p>
        </p:txBody>
      </p:sp>
      <p:sp>
        <p:nvSpPr>
          <p:cNvPr id="216" name="Text idx16label"/>
          <p:cNvSpPr/>
          <p:nvPr/>
        </p:nvSpPr>
        <p:spPr>
          <a:xfrm>
            <a:off x="3762757" y="4278355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</a:rPr>
              <a:t>Conclusiones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65760" y="960119"/>
            <a:ext cx="45719" cy="2318005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30352" y="960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PulseStream?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435608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81328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43560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servicios de streaming imponen restricciones: anuncios, regiones, licencias y costes recurrentes.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093976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13969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68680" y="209397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Ausencia de herramientas libres que combinen YouTube, subida de ficheros propios y multidispositivo.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729484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98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68680" y="275234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 de privacidad: la música personal no debería depender de terceros.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800600" y="960119"/>
            <a:ext cx="45720" cy="3904487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1"/>
          <p:cNvSpPr/>
          <p:nvPr/>
        </p:nvSpPr>
        <p:spPr>
          <a:xfrm>
            <a:off x="4965192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TFG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4937760" y="1417320"/>
            <a:ext cx="3867912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3"/>
          <p:cNvSpPr/>
          <p:nvPr/>
        </p:nvSpPr>
        <p:spPr>
          <a:xfrm>
            <a:off x="4983480" y="14356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propio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983480" y="1664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servidor de música privado, sin anuncios ni restricciones externas.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937760" y="2135124"/>
            <a:ext cx="3867912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ext 16"/>
          <p:cNvSpPr/>
          <p:nvPr/>
        </p:nvSpPr>
        <p:spPr>
          <a:xfrm>
            <a:off x="4983480" y="21488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YouTube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498348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y reproducir canciones directamente desde YouTube.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37760" y="2834641"/>
            <a:ext cx="3867912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Text 19"/>
          <p:cNvSpPr/>
          <p:nvPr/>
        </p:nvSpPr>
        <p:spPr>
          <a:xfrm>
            <a:off x="4983480" y="28620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Multiplatforma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983480" y="30906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Accesible vía web, cliente desktop (PyQt6) y app Android.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937760" y="3570731"/>
            <a:ext cx="3867912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Text 22"/>
          <p:cNvSpPr/>
          <p:nvPr/>
        </p:nvSpPr>
        <p:spPr>
          <a:xfrm>
            <a:off x="4983480" y="35753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global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4983480" y="380390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Exponer el servidor de forma segura desde cualquier red.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4937760" y="4270248"/>
            <a:ext cx="3867912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5"/>
          <p:cNvSpPr/>
          <p:nvPr/>
        </p:nvSpPr>
        <p:spPr>
          <a:xfrm>
            <a:off x="4983480" y="42885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 de uso</a:t>
            </a:r>
            <a:endParaRPr lang="en-US" sz="1050" dirty="0"/>
          </a:p>
        </p:txBody>
      </p:sp>
      <p:sp>
        <p:nvSpPr>
          <p:cNvPr id="31" name="Text 26"/>
          <p:cNvSpPr/>
          <p:nvPr/>
        </p:nvSpPr>
        <p:spPr>
          <a:xfrm>
            <a:off x="4983480" y="45171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con un solo comando mediante Docker Compose.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General del Sistema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011680" cy="731520"/>
          </a:xfrm>
          <a:prstGeom prst="rect">
            <a:avLst/>
          </a:prstGeom>
          <a:solidFill>
            <a:srgbClr val="1C2433"/>
          </a:solidFill>
          <a:ln w="19050">
            <a:solidFill>
              <a:srgbClr val="2563EB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23444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113385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(Browser)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1920240"/>
            <a:ext cx="2011680" cy="731520"/>
          </a:xfrm>
          <a:prstGeom prst="rect">
            <a:avLst/>
          </a:prstGeom>
          <a:solidFill>
            <a:srgbClr val="1C2433"/>
          </a:solidFill>
          <a:ln w="1905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14884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9808" y="204825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(Kotlin)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" y="2834640"/>
            <a:ext cx="2011680" cy="731520"/>
          </a:xfrm>
          <a:prstGeom prst="rect">
            <a:avLst/>
          </a:prstGeom>
          <a:solidFill>
            <a:srgbClr val="1C2433"/>
          </a:solidFill>
          <a:ln w="19050">
            <a:solidFill>
              <a:srgbClr val="F9731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063240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9808" y="296265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(PyQt6)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 flipV="1">
            <a:off x="2285999" y="1367028"/>
            <a:ext cx="1540384" cy="4571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9"/>
          <p:cNvSpPr/>
          <p:nvPr/>
        </p:nvSpPr>
        <p:spPr>
          <a:xfrm>
            <a:off x="2286000" y="2286000"/>
            <a:ext cx="64008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Shape 10"/>
          <p:cNvSpPr/>
          <p:nvPr/>
        </p:nvSpPr>
        <p:spPr>
          <a:xfrm>
            <a:off x="2285999" y="3200400"/>
            <a:ext cx="1540383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1"/>
          <p:cNvSpPr/>
          <p:nvPr/>
        </p:nvSpPr>
        <p:spPr>
          <a:xfrm>
            <a:off x="2926080" y="1645920"/>
            <a:ext cx="1828800" cy="914400"/>
          </a:xfrm>
          <a:prstGeom prst="rect">
            <a:avLst/>
          </a:prstGeom>
          <a:solidFill>
            <a:srgbClr val="1C2433"/>
          </a:solidFill>
          <a:ln w="19050">
            <a:solidFill>
              <a:srgbClr val="00A89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1792224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401568" y="1719072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 Tunnel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(Acceso público)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4754880" y="2103120"/>
            <a:ext cx="45720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Shape 14"/>
          <p:cNvSpPr/>
          <p:nvPr/>
        </p:nvSpPr>
        <p:spPr>
          <a:xfrm>
            <a:off x="5212080" y="1371600"/>
            <a:ext cx="2103120" cy="1371600"/>
          </a:xfrm>
          <a:prstGeom prst="rect">
            <a:avLst/>
          </a:prstGeom>
          <a:solidFill>
            <a:srgbClr val="1C2433"/>
          </a:solidFill>
          <a:ln w="25400">
            <a:solidFill>
              <a:srgbClr val="1DB954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1508760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715000" y="1481328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5349240" y="208483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8080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7315200" y="2103120"/>
            <a:ext cx="45720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18"/>
          <p:cNvSpPr/>
          <p:nvPr/>
        </p:nvSpPr>
        <p:spPr>
          <a:xfrm>
            <a:off x="7772400" y="1554480"/>
            <a:ext cx="1097280" cy="1005840"/>
          </a:xfrm>
          <a:prstGeom prst="rect">
            <a:avLst/>
          </a:prstGeom>
          <a:solidFill>
            <a:srgbClr val="1C2433"/>
          </a:solidFill>
          <a:ln w="19050">
            <a:solidFill>
              <a:srgbClr val="00A89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5008" y="1664208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818120" y="2011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263640" y="2743200"/>
            <a:ext cx="0" cy="45720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1"/>
          <p:cNvSpPr/>
          <p:nvPr/>
        </p:nvSpPr>
        <p:spPr>
          <a:xfrm>
            <a:off x="5212080" y="3200400"/>
            <a:ext cx="2103120" cy="731520"/>
          </a:xfrm>
          <a:prstGeom prst="rect">
            <a:avLst/>
          </a:prstGeom>
          <a:solidFill>
            <a:srgbClr val="1C2433"/>
          </a:solidFill>
          <a:ln w="19050">
            <a:solidFill>
              <a:srgbClr val="F9731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240" y="3337560"/>
            <a:ext cx="292608" cy="29260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715000" y="32735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(YouTube)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2834640" y="4206240"/>
            <a:ext cx="5943600" cy="548640"/>
          </a:xfrm>
          <a:prstGeom prst="rect">
            <a:avLst/>
          </a:prstGeom>
          <a:solidFill>
            <a:srgbClr val="192A4A"/>
          </a:solidFill>
          <a:ln w="12700">
            <a:solidFill>
              <a:srgbClr val="2496E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7520" y="4297680"/>
            <a:ext cx="292608" cy="29260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383280" y="43159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Docker: db · webserver · ngrok · tests</a:t>
            </a:r>
            <a:endParaRPr lang="en-US" sz="1000" dirty="0"/>
          </a:p>
        </p:txBody>
      </p:sp>
      <p:sp>
        <p:nvSpPr>
          <p:cNvPr id="35" name="Text 25"/>
          <p:cNvSpPr/>
          <p:nvPr/>
        </p:nvSpPr>
        <p:spPr>
          <a:xfrm>
            <a:off x="182880" y="4251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900" dirty="0"/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AC32C3A0-0D8A-D126-1CCB-864FA7F2FFBB}"/>
              </a:ext>
            </a:extLst>
          </p:cNvPr>
          <p:cNvSpPr/>
          <p:nvPr/>
        </p:nvSpPr>
        <p:spPr>
          <a:xfrm>
            <a:off x="3826891" y="1351947"/>
            <a:ext cx="0" cy="301085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D3797076-D440-4D46-E0FA-50F0E714E831}"/>
              </a:ext>
            </a:extLst>
          </p:cNvPr>
          <p:cNvSpPr/>
          <p:nvPr/>
        </p:nvSpPr>
        <p:spPr>
          <a:xfrm>
            <a:off x="2286000" y="1371600"/>
            <a:ext cx="64008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Shape 8">
            <a:extLst>
              <a:ext uri="{FF2B5EF4-FFF2-40B4-BE49-F238E27FC236}">
                <a16:creationId xmlns:a16="http://schemas.microsoft.com/office/drawing/2014/main" id="{3B562042-C8DD-A9E7-C632-61A1FB6A05B7}"/>
              </a:ext>
            </a:extLst>
          </p:cNvPr>
          <p:cNvSpPr/>
          <p:nvPr/>
        </p:nvSpPr>
        <p:spPr>
          <a:xfrm flipH="1">
            <a:off x="3826382" y="2551177"/>
            <a:ext cx="1" cy="649224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Flask &amp; API REST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web está construido con Flask (Python). Expone una API REST en el puerto 8080 que sirve tanto la interfaz web como los endpoints JSON consumidos por los clientes nativos.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31978" y="1325880"/>
            <a:ext cx="8503920" cy="31089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395986" y="1362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92098" y="13624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72458" y="1362456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1978" y="1664208"/>
            <a:ext cx="8503920" cy="310896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95986" y="170078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292098" y="170078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72458" y="1700784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web principal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1978" y="2002536"/>
            <a:ext cx="8503920" cy="310896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395986" y="20391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92098" y="20391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 / /register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72458" y="2039112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de usuarios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31978" y="2340864"/>
            <a:ext cx="8503920" cy="310896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95986" y="237744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292098" y="237744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/songs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72458" y="2377440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canciones del usuario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1978" y="2679192"/>
            <a:ext cx="8503920" cy="310896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395986" y="27157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92098" y="271576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/upload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72458" y="2715768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archivo de audio propio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1978" y="3017520"/>
            <a:ext cx="8503920" cy="310896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395986" y="30540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292098" y="305409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/download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72458" y="3054096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de canción desde YouTube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1978" y="3355848"/>
            <a:ext cx="8503920" cy="310896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395986" y="339242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292098" y="33924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/stream/&lt;id&gt;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72458" y="3392424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 audio al cliente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1978" y="3694176"/>
            <a:ext cx="8503920" cy="310896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Text 32"/>
          <p:cNvSpPr/>
          <p:nvPr/>
        </p:nvSpPr>
        <p:spPr>
          <a:xfrm>
            <a:off x="395986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GET/POST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292098" y="373075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/playlists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172458" y="3730752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playlists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31978" y="4032504"/>
            <a:ext cx="8503920" cy="310896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6"/>
          <p:cNvSpPr/>
          <p:nvPr/>
        </p:nvSpPr>
        <p:spPr>
          <a:xfrm>
            <a:off x="395986" y="40690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292098" y="4069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/songs/&lt;id&gt;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2458" y="4069080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 de una canción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1978" y="4370832"/>
            <a:ext cx="8503920" cy="310896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Text 40"/>
          <p:cNvSpPr/>
          <p:nvPr/>
        </p:nvSpPr>
        <p:spPr>
          <a:xfrm>
            <a:off x="395986" y="44074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292098" y="440740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72458" y="4407408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canciones en la biblioteca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1978" y="4709160"/>
            <a:ext cx="45720" cy="38354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Text 44"/>
          <p:cNvSpPr/>
          <p:nvPr/>
        </p:nvSpPr>
        <p:spPr>
          <a:xfrm>
            <a:off x="442976" y="474091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principales: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669796" y="4750054"/>
            <a:ext cx="6942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 ·  auth.py  ·  songs.py  ·  playlists.py  ·  downloader.py  ·  database.py  ·  streamer.py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MySQL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83845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corre en su propio contenedor Docker. El esquema consta de 4 tablas relacionadas que cubren usuarios, canciones, playlists y sus asociaciones. El usuario administrador por defecto es koan@koan.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341373"/>
            <a:ext cx="4114800" cy="1920239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320040" y="1341374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0538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140538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179857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INT PK AI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57200" y="204546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  VARCHAR(100)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57200" y="229235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 VARCHAR(150) UNIQUE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7200" y="253923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password_hash  VARCHAR(256)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7200" y="278612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  DATETIME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663440" y="1341373"/>
            <a:ext cx="4114800" cy="1920239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4663440" y="1341374"/>
            <a:ext cx="4114800" cy="3657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05382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47488" y="140538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800600" y="179857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INT PK AI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4800600" y="204546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  FK → users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4800600" y="229235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  VARCHAR(200)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4800600" y="253923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artist  VARCHAR(200)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4800600" y="278612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 VARCHAR(300)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4800600" y="303301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 ENUM(upload,youtube)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800600" y="34599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  INT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320040" y="3395980"/>
            <a:ext cx="4114800" cy="1691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2"/>
          <p:cNvSpPr/>
          <p:nvPr/>
        </p:nvSpPr>
        <p:spPr>
          <a:xfrm>
            <a:off x="320040" y="3395980"/>
            <a:ext cx="4114800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3459988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4088" y="34599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playlists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57200" y="38531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  INT PK AI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457200" y="41000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  FK → users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457200" y="43469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VARCHAR(150)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457200" y="45938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  DATETIME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4663440" y="3395980"/>
            <a:ext cx="4114800" cy="1691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4" name="Shape 29"/>
          <p:cNvSpPr/>
          <p:nvPr/>
        </p:nvSpPr>
        <p:spPr>
          <a:xfrm>
            <a:off x="4663440" y="3395980"/>
            <a:ext cx="4114800" cy="3657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459988"/>
            <a:ext cx="237744" cy="237744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047488" y="34599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playlist_songs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4800600" y="38531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playlist_id  FK → playlists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4800600" y="41000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song_id  FK → songs</a:t>
            </a:r>
            <a:endParaRPr lang="en-US" sz="850" dirty="0"/>
          </a:p>
        </p:txBody>
      </p:sp>
      <p:sp>
        <p:nvSpPr>
          <p:cNvPr id="39" name="Text 33"/>
          <p:cNvSpPr/>
          <p:nvPr/>
        </p:nvSpPr>
        <p:spPr>
          <a:xfrm>
            <a:off x="4800600" y="43469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 INT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4800600" y="45938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KEY (playlist_id, song_id)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YouTube · yt-dlp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7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9144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 es un fork avanzado de youtube-dl que permite descargar audio de YouTube (y otras plataformas) directamente desde el servidor. FFMPEG se encarga de la conversión al formato de audio.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320040" y="150876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11480" y="176479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15819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introduce URL de YouTube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14400" y="19202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la interfaz web, app Android o cliente desktop.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63440" y="150876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4663440" y="150876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4754880" y="176479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257800" y="15819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 POST /download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257800" y="19202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frontend envía la URL al backend Flask via API REST.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20040" y="260604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320040" y="260604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411480" y="286207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14400" y="26791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 extrae el audio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14400" y="3017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descarga el stream de audio en el servidor, sin almacenar vídeo.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663440" y="260604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9"/>
          <p:cNvSpPr/>
          <p:nvPr/>
        </p:nvSpPr>
        <p:spPr>
          <a:xfrm>
            <a:off x="4663440" y="260604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4754880" y="286207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5257800" y="26791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convierte el archivo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257800" y="30175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a MP3/formato compatible, aplicando metadatos.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20040" y="370332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320040" y="370332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411480" y="395935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914400" y="37764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MySQL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914400" y="41148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una entrada en la tabla songs con source='youtube'.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663440" y="3703320"/>
            <a:ext cx="4114800" cy="9601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4663440" y="3703320"/>
            <a:ext cx="502920" cy="9601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4754880" y="395935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5257800" y="37764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para streaming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5257800" y="41148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puede escuchar la canción inmediatamente vía /stream/&lt;id&gt;.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20040" y="4572000"/>
            <a:ext cx="8503920" cy="384048"/>
          </a:xfrm>
          <a:prstGeom prst="rect">
            <a:avLst/>
          </a:prstGeom>
          <a:solidFill>
            <a:srgbClr val="1A2A1A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457200" y="4626864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Uso educativo y privado. PulseStream no redistribuye contenido. El usuario es responsable del respeto a los derechos de autor.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con Docker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109728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8869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completo se orquesta con Docker Compose. Un único comando levanta todos los servicios. Esto garantiza la reproducibilidad del entorno en cualquier máquina que tenga Docker instalado.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1344168"/>
            <a:ext cx="8503920" cy="74980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320040" y="1344168"/>
            <a:ext cx="54864" cy="749808"/>
          </a:xfrm>
          <a:prstGeom prst="rect">
            <a:avLst/>
          </a:prstGeom>
          <a:solidFill>
            <a:srgbClr val="2496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75488" y="1399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96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5488" y="17282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 mysql:8.0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011680" y="1399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Puerto: 50000:3306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931920" y="139903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2 GB  ·  CPU: 2 cores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011680" y="1728216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MySQL. Volumen persistente mysql_data para no perder datos.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20040" y="2212848"/>
            <a:ext cx="8503920" cy="74980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20040" y="2212848"/>
            <a:ext cx="54864" cy="74980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475488" y="22677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webserver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5488" y="25968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 Dockerfile (Python)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2011680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Puerto: 8080:8080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931920" y="22677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4 GB  ·  CPU: 4 cores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011680" y="2596896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Flask. Volumen compartido ./src/music para los archivos de audio.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3081528"/>
            <a:ext cx="8503920" cy="74980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320040" y="3081528"/>
            <a:ext cx="54864" cy="74980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475488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ngrok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" y="34655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 ngrok/ngrok:latest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011680" y="31363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Puerto: 4040:4040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393192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—  ·  CPU: —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011680" y="3465576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 HTTP público. Lee el token de ngrok.env. Expone webserver:8080.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0040" y="3950208"/>
            <a:ext cx="8503920" cy="74980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320040" y="3950208"/>
            <a:ext cx="54864" cy="7498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475488" y="4005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5488" y="433425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image: Dockerfile.tests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2011680" y="4005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Puerto: —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931920" y="4005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 256 MB  ·  CPU: 0.5 cores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2011680" y="4334256"/>
            <a:ext cx="6720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tests. Ejecuta pytest con cobertura y genera report HTML.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solidFill>
            <a:srgbClr val="0A0E1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457200" y="48097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down -v  &amp;&amp;  docker compose build --no-cache  &amp;&amp;  docker compose up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Remoto: Ngrok &amp; ZeroTier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PulseStream está diseñado para ser accesible desde cualquier lugar del mundo, no solo en la red local. Se ofrecen dos métodos complementarios.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114800" cy="3291840"/>
          </a:xfrm>
          <a:prstGeom prst="rect">
            <a:avLst/>
          </a:prstGeom>
          <a:solidFill>
            <a:srgbClr val="1C2433"/>
          </a:solidFill>
          <a:ln w="19050">
            <a:solidFill>
              <a:srgbClr val="00A896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411480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14813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 (Incluido en Docker)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933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9808" y="19751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un túnel HTTPS público automáticamente al levantar el contenedor.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2316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9808" y="24048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un token de autenticación en ngrok.env.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852928"/>
            <a:ext cx="219456" cy="2194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8" y="2834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pública obtenible con: curl http://127.0.0.1:4040/api/tunnels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82696"/>
            <a:ext cx="219456" cy="21945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9808" y="32644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acceso rápido y demostraciones.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12464"/>
            <a:ext cx="219456" cy="219456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749808" y="369417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configuración de router ni abrir puertos.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42232"/>
            <a:ext cx="219456" cy="21945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749808" y="412394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Limitación: en plan gratuito la URL cambia en cada reinicio.</a:t>
            </a:r>
            <a:endParaRPr lang="en-US" sz="950" dirty="0"/>
          </a:p>
        </p:txBody>
      </p:sp>
      <p:sp>
        <p:nvSpPr>
          <p:cNvPr id="21" name="Shape 12"/>
          <p:cNvSpPr/>
          <p:nvPr/>
        </p:nvSpPr>
        <p:spPr>
          <a:xfrm>
            <a:off x="4709160" y="1417320"/>
            <a:ext cx="4114800" cy="3291840"/>
          </a:xfrm>
          <a:prstGeom prst="rect">
            <a:avLst/>
          </a:prstGeom>
          <a:solidFill>
            <a:srgbClr val="1C2433"/>
          </a:solidFill>
          <a:ln w="19050">
            <a:solidFill>
              <a:srgbClr val="2563EB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3"/>
          <p:cNvSpPr/>
          <p:nvPr/>
        </p:nvSpPr>
        <p:spPr>
          <a:xfrm>
            <a:off x="4709160" y="1417320"/>
            <a:ext cx="4114800" cy="4572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481328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193792" y="14813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ZeroTier VPN (Recomendado)</a:t>
            </a:r>
            <a:endParaRPr lang="en-US" sz="120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993392"/>
            <a:ext cx="219456" cy="219456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5138928" y="19751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P2P gratuita: hasta 3 redes y 10 dispositivos sin coste.</a:t>
            </a:r>
            <a:endParaRPr lang="en-US" sz="9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423160"/>
            <a:ext cx="219456" cy="219456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138928" y="240487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dispositivos conectados a la misma red ZeroTier se ven entre sí con IP privada fija.</a:t>
            </a:r>
            <a:endParaRPr lang="en-US" sz="950" dirty="0"/>
          </a:p>
        </p:txBody>
      </p:sp>
      <p:pic>
        <p:nvPicPr>
          <p:cNvPr id="29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852928"/>
            <a:ext cx="219456" cy="219456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38928" y="28346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privacidad: el tráfico no pasa por servidores de terceros.</a:t>
            </a:r>
            <a:endParaRPr lang="en-US" sz="950" dirty="0"/>
          </a:p>
        </p:txBody>
      </p:sp>
      <p:pic>
        <p:nvPicPr>
          <p:cNvPr id="3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282696"/>
            <a:ext cx="219456" cy="219456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5138928" y="32644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URL del servidor siempre es la misma IP de ZeroTier.</a:t>
            </a:r>
            <a:endParaRPr lang="en-US" sz="95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712464"/>
            <a:ext cx="219456" cy="219456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5138928" y="369417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Windows, Linux, macOS, iOS y Android.</a:t>
            </a:r>
            <a:endParaRPr lang="en-US" sz="950" dirty="0"/>
          </a:p>
        </p:txBody>
      </p:sp>
      <p:pic>
        <p:nvPicPr>
          <p:cNvPr id="35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4142232"/>
            <a:ext cx="219456" cy="21945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5138928" y="412394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 para uso personal continuado.</a:t>
            </a:r>
            <a:endParaRPr lang="en-US" sz="950" dirty="0"/>
          </a:p>
        </p:txBody>
      </p:sp>
      <p:sp>
        <p:nvSpPr>
          <p:cNvPr id="37" name="Text 21"/>
          <p:cNvSpPr/>
          <p:nvPr/>
        </p:nvSpPr>
        <p:spPr>
          <a:xfrm>
            <a:off x="4709160" y="4754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zerotier.com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Visualizador Desktop · PyQt6 + WebEngine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857577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desktop es una aplicación nativa para Windows, Linux y macOS construida con PyQt6 y PyQt6-WebEngine. Embebe un navegador Chromium completo que carga la interfaz web del servidor.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1339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586484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431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WebEngine integrado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914400" y="1741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Chromium embebido via QtWebEngine. Carga la UI web sin necesidad de abrir un navegador externo.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663440" y="1339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586484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257800" y="1431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Reproducción nativa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5257800" y="1741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audio se reproduce con toda la potencia del motor de medios de Qt, soporte completo de HTML5 Audio.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20040" y="2482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29484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14400" y="2574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servidor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914400" y="2884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puede introducir la IP/dominio del servidor (local o Ngrok) en el inicio de la app.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4663440" y="2482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729484"/>
            <a:ext cx="347472" cy="34747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257800" y="2574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 del SO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5257800" y="2884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experiencia en Windows, Linux y macOS. Se distribuye como ejecutable compilado con PyInstaller.</a:t>
            </a:r>
            <a:endParaRPr lang="en-US" sz="950" dirty="0"/>
          </a:p>
        </p:txBody>
      </p:sp>
      <p:sp>
        <p:nvSpPr>
          <p:cNvPr id="22" name="Shape 15"/>
          <p:cNvSpPr/>
          <p:nvPr/>
        </p:nvSpPr>
        <p:spPr>
          <a:xfrm>
            <a:off x="320040" y="3625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872484"/>
            <a:ext cx="347472" cy="34747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914400" y="3717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archivos local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914400" y="4027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sistema de archivos local para subir música propia directamente desde la app.</a:t>
            </a:r>
            <a:endParaRPr lang="en-US" sz="950" dirty="0"/>
          </a:p>
        </p:txBody>
      </p:sp>
      <p:sp>
        <p:nvSpPr>
          <p:cNvPr id="26" name="Shape 18"/>
          <p:cNvSpPr/>
          <p:nvPr/>
        </p:nvSpPr>
        <p:spPr>
          <a:xfrm>
            <a:off x="4663440" y="3625596"/>
            <a:ext cx="4114800" cy="10058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0600" y="3872484"/>
            <a:ext cx="347472" cy="34747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257800" y="37170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Visualizaciones de audio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257800" y="4027932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 visuales sincronizadas con la reproducción, implementadas en JavaScript sobre Canvas.</a:t>
            </a:r>
            <a:endParaRPr lang="en-US" sz="950" dirty="0"/>
          </a:p>
        </p:txBody>
      </p:sp>
      <p:sp>
        <p:nvSpPr>
          <p:cNvPr id="30" name="Shape 21"/>
          <p:cNvSpPr/>
          <p:nvPr/>
        </p:nvSpPr>
        <p:spPr>
          <a:xfrm>
            <a:off x="320040" y="4722876"/>
            <a:ext cx="8503920" cy="320040"/>
          </a:xfrm>
          <a:prstGeom prst="rect">
            <a:avLst/>
          </a:prstGeom>
          <a:solidFill>
            <a:srgbClr val="1018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2"/>
          <p:cNvSpPr/>
          <p:nvPr/>
        </p:nvSpPr>
        <p:spPr>
          <a:xfrm>
            <a:off x="457200" y="475945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Dependencias: PyQt6  ·  PyQt6-WebEngine  ·  PyInstaller (compilación)  |  Carpeta: /Binarios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Visualizador Android · Kotlin + WebView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8503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Android nativa está desarrollada en Kotlin con Android Studio. Utiliza un WebView para renderizar la interfaz web del servidor, integrándose con el hardware del dispositivo.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1261872"/>
            <a:ext cx="4572000" cy="64008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320040" y="1261872"/>
            <a:ext cx="4572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75488" y="130759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WebView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75488" y="158191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la UI del servidor en una WebView Android con soporte completo de HTML5.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" y="1993392"/>
            <a:ext cx="4572000" cy="64008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320040" y="1993392"/>
            <a:ext cx="4572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75488" y="203911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compilado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5488" y="231343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disponible en GitHub Releases. Instalable directamente en Android.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20040" y="2724912"/>
            <a:ext cx="4572000" cy="64008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320040" y="2724912"/>
            <a:ext cx="4572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475488" y="277063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Bridge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5488" y="304495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JS ↔ Kotlin para acceder a funciones nativas del dispositivo.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0040" y="3456432"/>
            <a:ext cx="4572000" cy="64008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320040" y="3456432"/>
            <a:ext cx="4572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475488" y="350215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URL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75488" y="377647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URL del servidor se guarda en SharedPreferences para no reintroducirla.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0040" y="4187952"/>
            <a:ext cx="4572000" cy="487245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320040" y="4187952"/>
            <a:ext cx="45720" cy="487245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75488" y="4233672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ficheros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75488" y="4400877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seleccionar archivos locales y subirlos al servidor.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120640" y="1261872"/>
            <a:ext cx="3703320" cy="1920240"/>
          </a:xfrm>
          <a:prstGeom prst="rect">
            <a:avLst/>
          </a:prstGeom>
          <a:solidFill>
            <a:srgbClr val="1C2433"/>
          </a:solidFill>
          <a:ln w="19050">
            <a:solidFill>
              <a:srgbClr val="7C3AED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5257800" y="13533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57800" y="17190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Kotlin 1.9+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257800" y="19476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Android Studio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257800" y="21762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 SDK: 21 (Android 5.0)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257800" y="24048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WebView + JavaScript Interface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257800" y="26334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Retrofit (HTTP client)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257800" y="2862072"/>
            <a:ext cx="3429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SharedPreferences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5120640" y="3319272"/>
            <a:ext cx="3703320" cy="1280160"/>
          </a:xfrm>
          <a:prstGeom prst="rect">
            <a:avLst/>
          </a:prstGeom>
          <a:solidFill>
            <a:srgbClr val="1C2433"/>
          </a:solidFill>
          <a:ln w="19050">
            <a:solidFill>
              <a:srgbClr val="1DB954"/>
            </a:solidFill>
            <a:prstDash val="solid"/>
          </a:ln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5257800" y="341071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Release: APK compilado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257800" y="3749040"/>
            <a:ext cx="3429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en GitHub Releases.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Versión: Android Visualizer Compiled.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May 2026.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320040" y="4782312"/>
            <a:ext cx="8503920" cy="320040"/>
          </a:xfrm>
          <a:prstGeom prst="rect">
            <a:avLst/>
          </a:prstGeom>
          <a:solidFill>
            <a:srgbClr val="10182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457200" y="4767942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Lenguajes del repo: Python 55.8%  ·  JavaScript 22.3%  ·  CSS 11.5%  ·  HTML 7.4%  ·  Kotlin 1.6%  ·  Shell 0.9%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Autenticación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3094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09728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PulseStream implementa un sistema de autenticación basado en sesiones Flask con contraseñas hasheadas. El acceso está segregado por usuario: cada uno solo ve y gestiona su propia biblioteca.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0040" y="146304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320040" y="1463040"/>
            <a:ext cx="45720" cy="10515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50392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contraseñas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50392" y="19019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 se almacenan con hash seguro (Werkzeug/bcrypt). Nunca en texto plano en la base de datos.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663440" y="146304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8"/>
          <p:cNvSpPr/>
          <p:nvPr/>
        </p:nvSpPr>
        <p:spPr>
          <a:xfrm>
            <a:off x="4663440" y="1463040"/>
            <a:ext cx="45720" cy="10515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78308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93792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Flask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5193792" y="190195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sesiones server-side con SECRET_KEY configurable. Las rutas protegidas requieren login activo.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20040" y="265176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2"/>
          <p:cNvSpPr/>
          <p:nvPr/>
        </p:nvSpPr>
        <p:spPr>
          <a:xfrm>
            <a:off x="320040" y="2651760"/>
            <a:ext cx="45720" cy="10515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71800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50392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Segregación de datos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850392" y="309067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solo accede a sus propias canciones y playlists. Las queries siempre filtran por user_id.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4663440" y="265176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6"/>
          <p:cNvSpPr/>
          <p:nvPr/>
        </p:nvSpPr>
        <p:spPr>
          <a:xfrm>
            <a:off x="4663440" y="2651760"/>
            <a:ext cx="45720" cy="10515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971800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193792" y="2743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via Ngrok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193792" y="309067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túnel Ngrok añade TLS/HTTPS automáticamente, cifrando la comunicación entre cliente y servidor.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320040" y="384048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0"/>
          <p:cNvSpPr/>
          <p:nvPr/>
        </p:nvSpPr>
        <p:spPr>
          <a:xfrm>
            <a:off x="320040" y="3840480"/>
            <a:ext cx="45720" cy="10515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160520"/>
            <a:ext cx="292608" cy="29260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50392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admin por defecto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850392" y="427939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koan@koan creado en el primer arranque. Se recomienda cambiar la contraseña en producción.</a:t>
            </a:r>
            <a:endParaRPr lang="en-US" sz="950" dirty="0"/>
          </a:p>
        </p:txBody>
      </p:sp>
      <p:sp>
        <p:nvSpPr>
          <p:cNvPr id="31" name="Shape 23"/>
          <p:cNvSpPr/>
          <p:nvPr/>
        </p:nvSpPr>
        <p:spPr>
          <a:xfrm>
            <a:off x="4663440" y="3840480"/>
            <a:ext cx="4114800" cy="1051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4"/>
          <p:cNvSpPr/>
          <p:nvPr/>
        </p:nvSpPr>
        <p:spPr>
          <a:xfrm>
            <a:off x="4663440" y="3840480"/>
            <a:ext cx="45720" cy="10515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4160520"/>
            <a:ext cx="292608" cy="29260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193792" y="39319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5193792" y="427939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de BD, SECRET_KEY y token Ngrok en variables de entorno, nunca hardcodeadas en el código.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y Calidad del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cuenta con un contenedor Docker dedicado a tests que ejecuta pytest con cobertura de código. Los tests se lanzan con un perfil específico para no interferir con el servidor principal.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45720" cy="41148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75488" y="14630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de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965960"/>
            <a:ext cx="4114800" cy="329184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783080" y="2011680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+ pytest-cov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2350008"/>
            <a:ext cx="4114800" cy="329184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23957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Contenedor: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783080" y="2395728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pulsestream_tests (Dockerfile.tests)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734056"/>
            <a:ext cx="4114800" cy="329184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457200" y="277977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Docker: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83080" y="27797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--profile tests up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118104"/>
            <a:ext cx="4114800" cy="329184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57200" y="31638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83080" y="3163824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autogenerado en /app/tests/reports/report.html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502152"/>
            <a:ext cx="4114800" cy="329184"/>
          </a:xfrm>
          <a:prstGeom prst="rect">
            <a:avLst/>
          </a:prstGeom>
          <a:solidFill>
            <a:srgbClr val="1C243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57200" y="35478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783080" y="3547872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pytest-cov con reporte terminal-missing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3886200"/>
            <a:ext cx="4114800" cy="329184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57200" y="39319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Aislamiento: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3931920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Conectado a la BD de test, no afecta al servidor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389120"/>
            <a:ext cx="4114800" cy="502920"/>
          </a:xfrm>
          <a:prstGeom prst="rect">
            <a:avLst/>
          </a:prstGeom>
          <a:solidFill>
            <a:srgbClr val="0A0E1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57200" y="448056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--profile tests up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98126" y="1463040"/>
            <a:ext cx="45719" cy="3529584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28" name="Text 26"/>
          <p:cNvSpPr/>
          <p:nvPr/>
        </p:nvSpPr>
        <p:spPr>
          <a:xfrm>
            <a:off x="4864608" y="14630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cubiertas por los tests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920240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011680"/>
            <a:ext cx="219456" cy="219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5120640" y="19568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120640" y="212140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logout, sesiones inválidas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09160" y="2368296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459736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120640" y="240487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canciones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5120640" y="2569464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Subida, listado, eliminación, búsqueda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4709160" y="2816352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907792"/>
            <a:ext cx="219456" cy="219456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5120640" y="28529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950" dirty="0"/>
          </a:p>
        </p:txBody>
      </p:sp>
      <p:sp>
        <p:nvSpPr>
          <p:cNvPr id="40" name="Text 35"/>
          <p:cNvSpPr/>
          <p:nvPr/>
        </p:nvSpPr>
        <p:spPr>
          <a:xfrm>
            <a:off x="5120640" y="3017520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/stream, rangos de bytes, MIME types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4709160" y="3264408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3355848"/>
            <a:ext cx="219456" cy="219456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120640" y="330098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YouTube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5120640" y="3465576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yt-dlp, errores de URL</a:t>
            </a:r>
            <a:endParaRPr lang="en-US" sz="850" dirty="0"/>
          </a:p>
        </p:txBody>
      </p:sp>
      <p:sp>
        <p:nvSpPr>
          <p:cNvPr id="45" name="Shape 39"/>
          <p:cNvSpPr/>
          <p:nvPr/>
        </p:nvSpPr>
        <p:spPr>
          <a:xfrm>
            <a:off x="4709160" y="3712464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3803904"/>
            <a:ext cx="219456" cy="219456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5120640" y="37490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Playlists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5120640" y="3913632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completo, añadir/quitar canciones</a:t>
            </a:r>
            <a:endParaRPr lang="en-US" sz="850" dirty="0"/>
          </a:p>
        </p:txBody>
      </p:sp>
      <p:sp>
        <p:nvSpPr>
          <p:cNvPr id="49" name="Shape 42"/>
          <p:cNvSpPr/>
          <p:nvPr/>
        </p:nvSpPr>
        <p:spPr>
          <a:xfrm>
            <a:off x="4709160" y="4160520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4251960"/>
            <a:ext cx="219456" cy="219456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5120640" y="419709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JSON</a:t>
            </a:r>
            <a:endParaRPr lang="en-US" sz="950" dirty="0"/>
          </a:p>
        </p:txBody>
      </p:sp>
      <p:sp>
        <p:nvSpPr>
          <p:cNvPr id="52" name="Text 44"/>
          <p:cNvSpPr/>
          <p:nvPr/>
        </p:nvSpPr>
        <p:spPr>
          <a:xfrm>
            <a:off x="5120640" y="4361688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correctas, códigos HTTP, validación</a:t>
            </a:r>
            <a:endParaRPr lang="en-US" sz="850" dirty="0"/>
          </a:p>
        </p:txBody>
      </p:sp>
      <p:sp>
        <p:nvSpPr>
          <p:cNvPr id="53" name="Shape 45"/>
          <p:cNvSpPr/>
          <p:nvPr/>
        </p:nvSpPr>
        <p:spPr>
          <a:xfrm>
            <a:off x="4709160" y="4608576"/>
            <a:ext cx="4114800" cy="38404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4700016"/>
            <a:ext cx="219456" cy="219456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5120640" y="46451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950" dirty="0"/>
          </a:p>
        </p:txBody>
      </p:sp>
      <p:sp>
        <p:nvSpPr>
          <p:cNvPr id="56" name="Text 47"/>
          <p:cNvSpPr/>
          <p:nvPr/>
        </p:nvSpPr>
        <p:spPr>
          <a:xfrm>
            <a:off x="5120640" y="4809744"/>
            <a:ext cx="3621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relacional, cascadas, unicidad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Datos del Sistema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simplificado del flujo completo, desde que el usuario interactúa con cualquier cliente hasta que el audio llega a sus oídos.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1417320"/>
            <a:ext cx="1463040" cy="594360"/>
          </a:xfrm>
          <a:prstGeom prst="rect">
            <a:avLst/>
          </a:prstGeom>
          <a:solidFill>
            <a:srgbClr val="2563EB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228600" y="1490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(Cualquier cliente)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03120" y="1417320"/>
            <a:ext cx="1463040" cy="594360"/>
          </a:xfrm>
          <a:prstGeom prst="rect">
            <a:avLst/>
          </a:prstGeom>
          <a:solidFill>
            <a:srgbClr val="00A896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148840" y="1490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(HTTPS Tunnel)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023360" y="1417320"/>
            <a:ext cx="1463040" cy="594360"/>
          </a:xfrm>
          <a:prstGeom prst="rect">
            <a:avLst/>
          </a:prstGeom>
          <a:solidFill>
            <a:srgbClr val="1DB95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4069080" y="1490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Webserver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760720" y="1408175"/>
            <a:ext cx="1463040" cy="594360"/>
          </a:xfrm>
          <a:prstGeom prst="rect">
            <a:avLst/>
          </a:prstGeom>
          <a:solidFill>
            <a:srgbClr val="2496ED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806440" y="1490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498080" y="1417320"/>
            <a:ext cx="1463040" cy="594360"/>
          </a:xfrm>
          <a:prstGeom prst="rect">
            <a:avLst/>
          </a:prstGeom>
          <a:solidFill>
            <a:srgbClr val="F97316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543800" y="14904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/music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645920" y="1719072"/>
            <a:ext cx="45720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3566160" y="1719072"/>
            <a:ext cx="45720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5486400" y="1719072"/>
            <a:ext cx="27432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7223760" y="1719072"/>
            <a:ext cx="274320" cy="0"/>
          </a:xfrm>
          <a:prstGeom prst="line">
            <a:avLst/>
          </a:prstGeom>
          <a:noFill/>
          <a:ln w="190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20040" y="2331720"/>
            <a:ext cx="8503920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" y="2331720"/>
            <a:ext cx="45720" cy="5943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75488" y="2377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Petición HTTP/HTTPS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5488" y="2624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(web, Android, PyQt6) envía una petición al servidor. Si es acceso externo, pasa primero por el túnel Ngrok que la reenvía al puerto 8080 del contenedor Flask.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0040" y="3017520"/>
            <a:ext cx="8503920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320040" y="3017520"/>
            <a:ext cx="45720" cy="5943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475488" y="3063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Procesamiento en Flask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3310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recibe la petición, valida la sesión del usuario, determina la acción (reproducir, subir, descargar, gestionar playlist) y consulta MySQL para obtener o actualizar metadatos.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3703320"/>
            <a:ext cx="8503920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Shape 26"/>
          <p:cNvSpPr/>
          <p:nvPr/>
        </p:nvSpPr>
        <p:spPr>
          <a:xfrm>
            <a:off x="320040" y="3703320"/>
            <a:ext cx="45720" cy="5943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75488" y="3749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Acceso al almacenamiento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3995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streaming: Flask lee el archivo de audio del volumen /app/music (montado desde ./src/music) y lo envía en chunks al cliente usando rangos de bytes (byte-range streaming).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0040" y="4389120"/>
            <a:ext cx="8503920" cy="5943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320040" y="4389120"/>
            <a:ext cx="45720" cy="59436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75488" y="44348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Descarga de YouTube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acción es /download: Flask invoca yt-dlp para descargar el audio de YouTube al volumen /app/music, lo convierte con FFMPEG, y registra los metadatos en MySQL.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Principales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029968" cy="50292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11556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Reproducción de música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47472" y="160020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de audio en tiempo real con soporte de byte-range. Compatible con todos los navegadores modernos, Android y PyQt6.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41448" y="100584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441448" y="1005840"/>
            <a:ext cx="2029968" cy="50292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111556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852928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YouTube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2514600" y="160020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descarga de canciones desde YouTube directamente en el servidor mediante yt-dlp + FFMPEG.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608576" y="100584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1"/>
          <p:cNvSpPr/>
          <p:nvPr/>
        </p:nvSpPr>
        <p:spPr>
          <a:xfrm>
            <a:off x="4608576" y="1005840"/>
            <a:ext cx="2029968" cy="5029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115568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0056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Subida de archivos propios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681728" y="160020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ficheros de audio (MP3, FLAC, WAV…) desde cualquier cliente. Se almacenan en el volumen persistente.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775704" y="100584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5"/>
          <p:cNvSpPr/>
          <p:nvPr/>
        </p:nvSpPr>
        <p:spPr>
          <a:xfrm>
            <a:off x="6775704" y="1005840"/>
            <a:ext cx="2029968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0568" y="111556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87184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playlists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6848856" y="160020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Creación, edición y eliminación de playlists. Añadir/quitar canciones y reordenar posiciones.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74320" y="301752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19"/>
          <p:cNvSpPr/>
          <p:nvPr/>
        </p:nvSpPr>
        <p:spPr>
          <a:xfrm>
            <a:off x="274320" y="3017520"/>
            <a:ext cx="2029968" cy="502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9184" y="312724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580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347472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tiempo real de canciones por título y artista dentro de la biblioteca personal del usuario.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2441448" y="301752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3"/>
          <p:cNvSpPr/>
          <p:nvPr/>
        </p:nvSpPr>
        <p:spPr>
          <a:xfrm>
            <a:off x="2441448" y="3017520"/>
            <a:ext cx="2029968" cy="5029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6312" y="3127248"/>
            <a:ext cx="292608" cy="29260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2852928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Multi-usuario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2514600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sesión. Cada usuario tiene su propia biblioteca aislada. Admin por defecto incluido.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608576" y="301752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27"/>
          <p:cNvSpPr/>
          <p:nvPr/>
        </p:nvSpPr>
        <p:spPr>
          <a:xfrm>
            <a:off x="4608576" y="3017520"/>
            <a:ext cx="2029968" cy="5029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440" y="3127248"/>
            <a:ext cx="292608" cy="29260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020056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Visualizaciones</a:t>
            </a:r>
            <a:endParaRPr lang="en-US" sz="950" dirty="0"/>
          </a:p>
        </p:txBody>
      </p:sp>
      <p:sp>
        <p:nvSpPr>
          <p:cNvPr id="38" name="Text 29"/>
          <p:cNvSpPr/>
          <p:nvPr/>
        </p:nvSpPr>
        <p:spPr>
          <a:xfrm>
            <a:off x="4681728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 de audio reactivas en tiempo real sobre Canvas HTML5, sincronizadas con la reproducción.</a:t>
            </a:r>
            <a:endParaRPr lang="en-US" sz="900" dirty="0"/>
          </a:p>
        </p:txBody>
      </p:sp>
      <p:sp>
        <p:nvSpPr>
          <p:cNvPr id="39" name="Shape 30"/>
          <p:cNvSpPr/>
          <p:nvPr/>
        </p:nvSpPr>
        <p:spPr>
          <a:xfrm>
            <a:off x="6775704" y="3017520"/>
            <a:ext cx="2029968" cy="18745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0" name="Shape 31"/>
          <p:cNvSpPr/>
          <p:nvPr/>
        </p:nvSpPr>
        <p:spPr>
          <a:xfrm>
            <a:off x="6775704" y="3017520"/>
            <a:ext cx="2029968" cy="5029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127248"/>
            <a:ext cx="292608" cy="29260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87184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Multiplatforma</a:t>
            </a:r>
            <a:endParaRPr lang="en-US" sz="950" dirty="0"/>
          </a:p>
        </p:txBody>
      </p:sp>
      <p:sp>
        <p:nvSpPr>
          <p:cNvPr id="43" name="Text 33"/>
          <p:cNvSpPr/>
          <p:nvPr/>
        </p:nvSpPr>
        <p:spPr>
          <a:xfrm>
            <a:off x="6848856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vía navegador web, app Android nativa (APK) y cliente desktop multiplataforma (PyQt6).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y Dependencias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114800" cy="19659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4114800" cy="38404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29768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(Python)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29768" y="14630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46304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801368" y="146304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Web framework REST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9768" y="166420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6642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01368" y="166420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Seguridad y utilidades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9768" y="1865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4360" y="186537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mysql-connector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01368" y="1865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Conexión MySQL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9768" y="206654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06654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python-dotenv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01368" y="20665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Variables de entorno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29768" y="22677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226771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801368" y="226771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Descarga audio YouTube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29768" y="246888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24688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psutil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01368" y="24688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Monitorización del sistema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29768" y="267004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4360" y="26700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colorama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801368" y="267004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Logs con color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9768" y="287121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" y="287121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801368" y="28712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HTTP client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005840"/>
            <a:ext cx="4114800" cy="19659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4663440" y="1005840"/>
            <a:ext cx="4114800" cy="384048"/>
          </a:xfrm>
          <a:prstGeom prst="rect">
            <a:avLst/>
          </a:prstGeom>
          <a:solidFill>
            <a:srgbClr val="2496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773168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73168" y="14630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37760" y="146304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44768" y="146304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Contenedores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166420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937760" y="16642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44768" y="166420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Orquestación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1865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186537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44768" y="1865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Base de datos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206654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937760" y="206654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144768" y="20665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Conversión de audio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226771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937760" y="226771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44768" y="226771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Túnel HTTPS público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773168" y="246888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937760" y="24688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ZeroTier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44768" y="24688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VPN P2P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20040" y="3154680"/>
            <a:ext cx="4114800" cy="16459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3" name="Shape 51"/>
          <p:cNvSpPr/>
          <p:nvPr/>
        </p:nvSpPr>
        <p:spPr>
          <a:xfrm>
            <a:off x="320040" y="3154680"/>
            <a:ext cx="4114800" cy="3840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4" name="Text 52"/>
          <p:cNvSpPr/>
          <p:nvPr/>
        </p:nvSpPr>
        <p:spPr>
          <a:xfrm>
            <a:off x="429768" y="32278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Nativos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29768" y="361188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94360" y="36118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801368" y="36118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Framework desktop Qt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29768" y="381304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94360" y="38130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PyQt6-WebEngine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801368" y="381304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Navegador embebido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29768" y="401421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94360" y="401421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801368" y="40142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App Android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29768" y="421538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94360" y="42153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801368" y="421538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IDE Android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429768" y="441655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4360" y="44165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WebView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801368" y="44165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Renderizado en Android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663440" y="3154680"/>
            <a:ext cx="4114800" cy="164592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Shape 69"/>
          <p:cNvSpPr/>
          <p:nvPr/>
        </p:nvSpPr>
        <p:spPr>
          <a:xfrm>
            <a:off x="4663440" y="3154680"/>
            <a:ext cx="4114800" cy="384048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Text 70"/>
          <p:cNvSpPr/>
          <p:nvPr/>
        </p:nvSpPr>
        <p:spPr>
          <a:xfrm>
            <a:off x="4773168" y="32278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y Dev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773168" y="361188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4937760" y="36118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6144768" y="361188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Framework de tests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4773168" y="381304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937760" y="381304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pytest-cov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144768" y="381304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Cobertura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4773168" y="401421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937760" y="401421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pytest-html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6144768" y="40142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Informe HTML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4773168" y="421538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4937760" y="42153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PyInstaller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144768" y="421538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Compilar desktop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JS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7DF1E"/>
                </a:solidFill>
                <a:latin typeface="Calibri" pitchFamily="34" charset="0"/>
              </a:rPr>
              <a:t>Tecnologías JavaScript</a:t>
            </a:r>
          </a:p>
        </p:txBody>
      </p:sp>
      <p:sp>
        <p:nvSpPr>
          <p:cNvPr id="3" name="TitleLine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Box1Bg"/>
          <p:cNvSpPr/>
          <p:nvPr/>
        </p:nvSpPr>
        <p:spPr>
          <a:xfrm>
            <a:off x="320040" y="1005840"/>
            <a:ext cx="4114800" cy="15645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Box1Header"/>
          <p:cNvSpPr/>
          <p:nvPr/>
        </p:nvSpPr>
        <p:spPr>
          <a:xfrm>
            <a:off x="320040" y="1005840"/>
            <a:ext cx="4114800" cy="384048"/>
          </a:xfrm>
          <a:prstGeom prst="rect">
            <a:avLst/>
          </a:prstGeom>
          <a:solidFill>
            <a:srgbClr val="F7DF1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Box1Title"/>
          <p:cNvSpPr/>
          <p:nvPr/>
        </p:nvSpPr>
        <p:spPr>
          <a:xfrm>
            <a:off x="429768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</a:rPr>
              <a:t>Frontend Web</a:t>
            </a:r>
          </a:p>
        </p:txBody>
      </p:sp>
      <p:sp>
        <p:nvSpPr>
          <p:cNvPr id="13" name="R1Arrow"/>
          <p:cNvSpPr/>
          <p:nvPr/>
        </p:nvSpPr>
        <p:spPr>
          <a:xfrm>
            <a:off x="429768" y="14630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DF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14" name="R1Name"/>
          <p:cNvSpPr/>
          <p:nvPr/>
        </p:nvSpPr>
        <p:spPr>
          <a:xfrm>
            <a:off x="594360" y="146304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Vanilla JS</a:t>
            </a:r>
          </a:p>
        </p:txBody>
      </p:sp>
      <p:sp>
        <p:nvSpPr>
          <p:cNvPr id="15" name="R1Desc"/>
          <p:cNvSpPr/>
          <p:nvPr/>
        </p:nvSpPr>
        <p:spPr>
          <a:xfrm>
            <a:off x="1801368" y="146304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Lógica del cliente web</a:t>
            </a:r>
          </a:p>
        </p:txBody>
      </p:sp>
      <p:sp>
        <p:nvSpPr>
          <p:cNvPr id="16" name="R2Arrow"/>
          <p:cNvSpPr/>
          <p:nvPr/>
        </p:nvSpPr>
        <p:spPr>
          <a:xfrm>
            <a:off x="429768" y="166420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DF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17" name="R2Name"/>
          <p:cNvSpPr/>
          <p:nvPr/>
        </p:nvSpPr>
        <p:spPr>
          <a:xfrm>
            <a:off x="594360" y="16642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Web Audio API</a:t>
            </a:r>
          </a:p>
        </p:txBody>
      </p:sp>
      <p:sp>
        <p:nvSpPr>
          <p:cNvPr id="18" name="R2Desc"/>
          <p:cNvSpPr/>
          <p:nvPr/>
        </p:nvSpPr>
        <p:spPr>
          <a:xfrm>
            <a:off x="1801368" y="1664208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Análisis de audio en tiempo real</a:t>
            </a:r>
          </a:p>
        </p:txBody>
      </p:sp>
      <p:sp>
        <p:nvSpPr>
          <p:cNvPr id="19" name="R3Arrow"/>
          <p:cNvSpPr/>
          <p:nvPr/>
        </p:nvSpPr>
        <p:spPr>
          <a:xfrm>
            <a:off x="429768" y="1865376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DF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20" name="R3Name"/>
          <p:cNvSpPr/>
          <p:nvPr/>
        </p:nvSpPr>
        <p:spPr>
          <a:xfrm>
            <a:off x="594360" y="186537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Canvas API</a:t>
            </a:r>
          </a:p>
        </p:txBody>
      </p:sp>
      <p:sp>
        <p:nvSpPr>
          <p:cNvPr id="21" name="R3Desc"/>
          <p:cNvSpPr/>
          <p:nvPr/>
        </p:nvSpPr>
        <p:spPr>
          <a:xfrm>
            <a:off x="1801368" y="186537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Visualizaciones animadas</a:t>
            </a:r>
          </a:p>
        </p:txBody>
      </p:sp>
      <p:sp>
        <p:nvSpPr>
          <p:cNvPr id="22" name="R4Arrow"/>
          <p:cNvSpPr/>
          <p:nvPr/>
        </p:nvSpPr>
        <p:spPr>
          <a:xfrm>
            <a:off x="429768" y="206654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DF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23" name="R4Name"/>
          <p:cNvSpPr/>
          <p:nvPr/>
        </p:nvSpPr>
        <p:spPr>
          <a:xfrm>
            <a:off x="594360" y="206654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Fetch API</a:t>
            </a:r>
          </a:p>
        </p:txBody>
      </p:sp>
      <p:sp>
        <p:nvSpPr>
          <p:cNvPr id="24" name="R4Desc"/>
          <p:cNvSpPr/>
          <p:nvPr/>
        </p:nvSpPr>
        <p:spPr>
          <a:xfrm>
            <a:off x="1801368" y="206654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Llamadas a la API REST</a:t>
            </a:r>
          </a:p>
        </p:txBody>
      </p:sp>
      <p:sp>
        <p:nvSpPr>
          <p:cNvPr id="30" name="Box2Bg"/>
          <p:cNvSpPr/>
          <p:nvPr/>
        </p:nvSpPr>
        <p:spPr>
          <a:xfrm>
            <a:off x="4663440" y="1005840"/>
            <a:ext cx="4114800" cy="116316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Box2Header"/>
          <p:cNvSpPr/>
          <p:nvPr/>
        </p:nvSpPr>
        <p:spPr>
          <a:xfrm>
            <a:off x="4663440" y="1005840"/>
            <a:ext cx="4114800" cy="384048"/>
          </a:xfrm>
          <a:prstGeom prst="rect">
            <a:avLst/>
          </a:prstGeom>
          <a:solidFill>
            <a:srgbClr val="3DDC8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Box2Title"/>
          <p:cNvSpPr/>
          <p:nvPr/>
        </p:nvSpPr>
        <p:spPr>
          <a:xfrm>
            <a:off x="4773168" y="10789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</a:rPr>
              <a:t>Android JS Bridge</a:t>
            </a:r>
          </a:p>
        </p:txBody>
      </p:sp>
      <p:sp>
        <p:nvSpPr>
          <p:cNvPr id="33" name="B2R1Arrow"/>
          <p:cNvSpPr/>
          <p:nvPr/>
        </p:nvSpPr>
        <p:spPr>
          <a:xfrm>
            <a:off x="4773168" y="14630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DC84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34" name="B2R1Name"/>
          <p:cNvSpPr/>
          <p:nvPr/>
        </p:nvSpPr>
        <p:spPr>
          <a:xfrm>
            <a:off x="4937760" y="1463040"/>
            <a:ext cx="1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@JavascriptInterface</a:t>
            </a:r>
          </a:p>
        </p:txBody>
      </p:sp>
      <p:sp>
        <p:nvSpPr>
          <p:cNvPr id="35" name="B2R1Desc"/>
          <p:cNvSpPr/>
          <p:nvPr/>
        </p:nvSpPr>
        <p:spPr>
          <a:xfrm>
            <a:off x="6480000" y="1463040"/>
            <a:ext cx="216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JS ↔ Kotlin bridge</a:t>
            </a:r>
          </a:p>
        </p:txBody>
      </p:sp>
      <p:sp>
        <p:nvSpPr>
          <p:cNvPr id="36" name="B2R2Arrow"/>
          <p:cNvSpPr/>
          <p:nvPr/>
        </p:nvSpPr>
        <p:spPr>
          <a:xfrm>
            <a:off x="4773168" y="1664208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DDC84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37" name="B2R2Name"/>
          <p:cNvSpPr/>
          <p:nvPr/>
        </p:nvSpPr>
        <p:spPr>
          <a:xfrm>
            <a:off x="4937760" y="1664208"/>
            <a:ext cx="1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HTML5 Audio</a:t>
            </a:r>
          </a:p>
        </p:txBody>
      </p:sp>
      <p:sp>
        <p:nvSpPr>
          <p:cNvPr id="38" name="B2R2Desc"/>
          <p:cNvSpPr/>
          <p:nvPr/>
        </p:nvSpPr>
        <p:spPr>
          <a:xfrm>
            <a:off x="6480000" y="1664208"/>
            <a:ext cx="216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Reproducción en WebView</a:t>
            </a:r>
          </a:p>
        </p:txBody>
      </p:sp>
      <p:sp>
        <p:nvSpPr>
          <p:cNvPr id="50" name="Box3Bg"/>
          <p:cNvSpPr/>
          <p:nvPr/>
        </p:nvSpPr>
        <p:spPr>
          <a:xfrm>
            <a:off x="320040" y="2650800"/>
            <a:ext cx="4114800" cy="1763136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1" name="Box3Header"/>
          <p:cNvSpPr/>
          <p:nvPr/>
        </p:nvSpPr>
        <p:spPr>
          <a:xfrm>
            <a:off x="320040" y="2650800"/>
            <a:ext cx="4114800" cy="384048"/>
          </a:xfrm>
          <a:prstGeom prst="rect">
            <a:avLst/>
          </a:prstGeom>
          <a:solidFill>
            <a:srgbClr val="E06C1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2" name="Box3Title"/>
          <p:cNvSpPr/>
          <p:nvPr/>
        </p:nvSpPr>
        <p:spPr>
          <a:xfrm>
            <a:off x="429768" y="27239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</a:rPr>
              <a:t>Utilidades del Frontend</a:t>
            </a:r>
          </a:p>
        </p:txBody>
      </p:sp>
      <p:sp>
        <p:nvSpPr>
          <p:cNvPr id="53" name="B3R1Arrow"/>
          <p:cNvSpPr/>
          <p:nvPr/>
        </p:nvSpPr>
        <p:spPr>
          <a:xfrm>
            <a:off x="429768" y="310790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06C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54" name="B3R1Name"/>
          <p:cNvSpPr/>
          <p:nvPr/>
        </p:nvSpPr>
        <p:spPr>
          <a:xfrm>
            <a:off x="594360" y="31079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DOM API</a:t>
            </a:r>
          </a:p>
        </p:txBody>
      </p:sp>
      <p:sp>
        <p:nvSpPr>
          <p:cNvPr id="55" name="B3R1Desc"/>
          <p:cNvSpPr/>
          <p:nvPr/>
        </p:nvSpPr>
        <p:spPr>
          <a:xfrm>
            <a:off x="1801368" y="3107904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Manipulación dinámica de UI</a:t>
            </a:r>
          </a:p>
        </p:txBody>
      </p:sp>
      <p:sp>
        <p:nvSpPr>
          <p:cNvPr id="56" name="B3R2Arrow"/>
          <p:cNvSpPr/>
          <p:nvPr/>
        </p:nvSpPr>
        <p:spPr>
          <a:xfrm>
            <a:off x="429768" y="33090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06C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57" name="B3R2Name"/>
          <p:cNvSpPr/>
          <p:nvPr/>
        </p:nvSpPr>
        <p:spPr>
          <a:xfrm>
            <a:off x="594360" y="33090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LocalStorage</a:t>
            </a:r>
          </a:p>
        </p:txBody>
      </p:sp>
      <p:sp>
        <p:nvSpPr>
          <p:cNvPr id="58" name="B3R2Desc"/>
          <p:cNvSpPr/>
          <p:nvPr/>
        </p:nvSpPr>
        <p:spPr>
          <a:xfrm>
            <a:off x="1801368" y="330907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Persistencia en el cliente</a:t>
            </a:r>
          </a:p>
        </p:txBody>
      </p:sp>
      <p:sp>
        <p:nvSpPr>
          <p:cNvPr id="59" name="B3R3Arrow"/>
          <p:cNvSpPr/>
          <p:nvPr/>
        </p:nvSpPr>
        <p:spPr>
          <a:xfrm>
            <a:off x="429768" y="35102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06C1E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60" name="B3R3Name"/>
          <p:cNvSpPr/>
          <p:nvPr/>
        </p:nvSpPr>
        <p:spPr>
          <a:xfrm>
            <a:off x="594360" y="351024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CSS + JS Anim.</a:t>
            </a:r>
          </a:p>
        </p:txBody>
      </p:sp>
      <p:sp>
        <p:nvSpPr>
          <p:cNvPr id="61" name="B3R3Desc"/>
          <p:cNvSpPr/>
          <p:nvPr/>
        </p:nvSpPr>
        <p:spPr>
          <a:xfrm>
            <a:off x="1801368" y="351024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Interfaz reactiva y fluida</a:t>
            </a:r>
          </a:p>
        </p:txBody>
      </p:sp>
      <p:sp>
        <p:nvSpPr>
          <p:cNvPr id="70" name="Box4Bg"/>
          <p:cNvSpPr/>
          <p:nvPr/>
        </p:nvSpPr>
        <p:spPr>
          <a:xfrm>
            <a:off x="4663440" y="2650800"/>
            <a:ext cx="4114800" cy="1763136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1" name="Box4Header"/>
          <p:cNvSpPr/>
          <p:nvPr/>
        </p:nvSpPr>
        <p:spPr>
          <a:xfrm>
            <a:off x="4663440" y="2650800"/>
            <a:ext cx="4114800" cy="384048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Box4Title"/>
          <p:cNvSpPr/>
          <p:nvPr/>
        </p:nvSpPr>
        <p:spPr>
          <a:xfrm>
            <a:off x="4773168" y="27239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</a:rPr>
              <a:t>Contexto en el Repo</a:t>
            </a:r>
          </a:p>
        </p:txBody>
      </p:sp>
      <p:sp>
        <p:nvSpPr>
          <p:cNvPr id="73" name="B4R1Arrow"/>
          <p:cNvSpPr/>
          <p:nvPr/>
        </p:nvSpPr>
        <p:spPr>
          <a:xfrm>
            <a:off x="4773168" y="3107904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55F7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74" name="B4R1Name"/>
          <p:cNvSpPr/>
          <p:nvPr/>
        </p:nvSpPr>
        <p:spPr>
          <a:xfrm>
            <a:off x="4937760" y="3107904"/>
            <a:ext cx="1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7DF1E"/>
                </a:solidFill>
                <a:latin typeface="Calibri" pitchFamily="34" charset="0"/>
              </a:rPr>
              <a:t>22.3% del repo</a:t>
            </a:r>
          </a:p>
        </p:txBody>
      </p:sp>
      <p:sp>
        <p:nvSpPr>
          <p:cNvPr id="75" name="B4R1Desc"/>
          <p:cNvSpPr/>
          <p:nvPr/>
        </p:nvSpPr>
        <p:spPr>
          <a:xfrm>
            <a:off x="6480000" y="3107904"/>
            <a:ext cx="216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2º lenguaje del proyecto</a:t>
            </a:r>
          </a:p>
        </p:txBody>
      </p:sp>
      <p:sp>
        <p:nvSpPr>
          <p:cNvPr id="76" name="B4R2Arrow"/>
          <p:cNvSpPr/>
          <p:nvPr/>
        </p:nvSpPr>
        <p:spPr>
          <a:xfrm>
            <a:off x="4773168" y="330907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55F7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77" name="B4R2Name"/>
          <p:cNvSpPr/>
          <p:nvPr/>
        </p:nvSpPr>
        <p:spPr>
          <a:xfrm>
            <a:off x="4937760" y="3309072"/>
            <a:ext cx="1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Sin frameworks</a:t>
            </a:r>
          </a:p>
        </p:txBody>
      </p:sp>
      <p:sp>
        <p:nvSpPr>
          <p:cNvPr id="78" name="B4R2Desc"/>
          <p:cNvSpPr/>
          <p:nvPr/>
        </p:nvSpPr>
        <p:spPr>
          <a:xfrm>
            <a:off x="6480000" y="3309072"/>
            <a:ext cx="216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Vanilla JS puro, sin npm</a:t>
            </a:r>
          </a:p>
        </p:txBody>
      </p:sp>
      <p:sp>
        <p:nvSpPr>
          <p:cNvPr id="79" name="B4R3Arrow"/>
          <p:cNvSpPr/>
          <p:nvPr/>
        </p:nvSpPr>
        <p:spPr>
          <a:xfrm>
            <a:off x="4773168" y="3510240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55F7"/>
                </a:solidFill>
                <a:latin typeface="Calibri" pitchFamily="34" charset="0"/>
              </a:rPr>
              <a:t>▸ </a:t>
            </a:r>
          </a:p>
        </p:txBody>
      </p:sp>
      <p:sp>
        <p:nvSpPr>
          <p:cNvPr id="80" name="B4R3Name"/>
          <p:cNvSpPr/>
          <p:nvPr/>
        </p:nvSpPr>
        <p:spPr>
          <a:xfrm>
            <a:off x="4937760" y="3510240"/>
            <a:ext cx="140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</a:rPr>
              <a:t>ES6+ Modules</a:t>
            </a:r>
          </a:p>
        </p:txBody>
      </p:sp>
      <p:sp>
        <p:nvSpPr>
          <p:cNvPr id="81" name="B4R3Desc"/>
          <p:cNvSpPr/>
          <p:nvPr/>
        </p:nvSpPr>
        <p:spPr>
          <a:xfrm>
            <a:off x="6480000" y="3510240"/>
            <a:ext cx="216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</a:rPr>
              <a:t>– Arrow functions, async/await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está organizado de forma modular, separando el código backend, los visualizadores, la configuración de Docker y la documentación.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3611880"/>
          </a:xfrm>
          <a:prstGeom prst="rect">
            <a:avLst/>
          </a:prstGeom>
          <a:solidFill>
            <a:srgbClr val="0A0E14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DB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PulseStream/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705356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Binarios/               ← Visualizadores (PyQt6 + Android APK)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097280" y="190195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desktop_visualizer/     ← Código fuente PyQt6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097280" y="209854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android_visualizer/     ← Proyecto Android Studio (Kotlin)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77240" y="2295144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                    ← Código Python del servidor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97280" y="249174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                 ← Punto de entrada Flask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97280" y="2688336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                 ← Login, registro, sesiones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97280" y="288493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songs.py                ← CRUD canciones + streaming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97280" y="3081528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playlists.py            ← Gestión de playlists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7280" y="327812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downloader.py           ← Integración yt-dlp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97280" y="3474720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             ← Conexión y queries MySQL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97280" y="3671316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music/                  ← Archivos de audio (volumen Docker)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97280" y="386791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                  ← Suite de tests pytest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77240" y="4064508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      ← Orquestación de contenedores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7240" y="4261104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              ← Imagen servidor Flask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77240" y="4457700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Dockerfile.tests        ← Imagen contenedor tests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        ← Dependencias Python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77240" y="4850892"/>
            <a:ext cx="7909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Memoria.docx            ← Documentación del TFG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1524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205740" y="960120"/>
            <a:ext cx="45720" cy="2670048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75488" y="960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alcanzados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264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13990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privado de música funcional, sin anuncios ni suscripciones.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" y="1755648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1051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" y="1783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completa con YouTube vía yt-dlp.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20040" y="2139696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45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8096" y="21671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clientes: web responsive, Android nativo, desktop PyQt6.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20040" y="2523744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7860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68096" y="2551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con un único comando Docker Compose.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320040" y="2907792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62656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768096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remoto seguro con Ngrok y compatible con ZeroTier.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320040" y="3291840"/>
            <a:ext cx="4114800" cy="33832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46704"/>
            <a:ext cx="219456" cy="21945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68096" y="3319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multi-usuario con autenticación y datos aislados.</a:t>
            </a:r>
            <a:endParaRPr lang="en-US" sz="950" dirty="0"/>
          </a:p>
        </p:txBody>
      </p:sp>
      <p:sp>
        <p:nvSpPr>
          <p:cNvPr id="24" name="Shape 16"/>
          <p:cNvSpPr/>
          <p:nvPr/>
        </p:nvSpPr>
        <p:spPr>
          <a:xfrm>
            <a:off x="4572000" y="987552"/>
            <a:ext cx="45719" cy="4059936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17"/>
          <p:cNvSpPr/>
          <p:nvPr/>
        </p:nvSpPr>
        <p:spPr>
          <a:xfrm>
            <a:off x="4864608" y="9601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4709160" y="1371600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19"/>
          <p:cNvSpPr/>
          <p:nvPr/>
        </p:nvSpPr>
        <p:spPr>
          <a:xfrm>
            <a:off x="4709160" y="1371600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0"/>
          <p:cNvSpPr/>
          <p:nvPr/>
        </p:nvSpPr>
        <p:spPr>
          <a:xfrm>
            <a:off x="4864608" y="14081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offline Android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4864608" y="16642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local en la app móvil para escuchar sin conexión.</a:t>
            </a:r>
            <a:endParaRPr lang="en-US" sz="950" dirty="0"/>
          </a:p>
        </p:txBody>
      </p:sp>
      <p:sp>
        <p:nvSpPr>
          <p:cNvPr id="30" name="Shape 22"/>
          <p:cNvSpPr/>
          <p:nvPr/>
        </p:nvSpPr>
        <p:spPr>
          <a:xfrm>
            <a:off x="4709160" y="1993392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Shape 23"/>
          <p:cNvSpPr/>
          <p:nvPr/>
        </p:nvSpPr>
        <p:spPr>
          <a:xfrm>
            <a:off x="4709160" y="1993392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4"/>
          <p:cNvSpPr/>
          <p:nvPr/>
        </p:nvSpPr>
        <p:spPr>
          <a:xfrm>
            <a:off x="4864608" y="20299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Música compartida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4864608" y="22860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compartida entre usuarios con permisos granulares.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4709160" y="2615184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27"/>
          <p:cNvSpPr/>
          <p:nvPr/>
        </p:nvSpPr>
        <p:spPr>
          <a:xfrm>
            <a:off x="4709160" y="2615184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28"/>
          <p:cNvSpPr/>
          <p:nvPr/>
        </p:nvSpPr>
        <p:spPr>
          <a:xfrm>
            <a:off x="4864608" y="26517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iOS</a:t>
            </a:r>
            <a:endParaRPr lang="en-US" sz="1050" dirty="0"/>
          </a:p>
        </p:txBody>
      </p:sp>
      <p:sp>
        <p:nvSpPr>
          <p:cNvPr id="37" name="Text 29"/>
          <p:cNvSpPr/>
          <p:nvPr/>
        </p:nvSpPr>
        <p:spPr>
          <a:xfrm>
            <a:off x="4864608" y="29077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nativo para iPhone/iPad en Swift/SwiftUI.</a:t>
            </a:r>
            <a:endParaRPr lang="en-US" sz="950" dirty="0"/>
          </a:p>
        </p:txBody>
      </p:sp>
      <p:sp>
        <p:nvSpPr>
          <p:cNvPr id="38" name="Shape 30"/>
          <p:cNvSpPr/>
          <p:nvPr/>
        </p:nvSpPr>
        <p:spPr>
          <a:xfrm>
            <a:off x="4709160" y="3236976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9" name="Shape 31"/>
          <p:cNvSpPr/>
          <p:nvPr/>
        </p:nvSpPr>
        <p:spPr>
          <a:xfrm>
            <a:off x="4709160" y="3236976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Text 32"/>
          <p:cNvSpPr/>
          <p:nvPr/>
        </p:nvSpPr>
        <p:spPr>
          <a:xfrm>
            <a:off x="4864608" y="32735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Transcoding adaptativo</a:t>
            </a:r>
            <a:endParaRPr lang="en-US" sz="1050" dirty="0"/>
          </a:p>
        </p:txBody>
      </p:sp>
      <p:sp>
        <p:nvSpPr>
          <p:cNvPr id="41" name="Text 33"/>
          <p:cNvSpPr/>
          <p:nvPr/>
        </p:nvSpPr>
        <p:spPr>
          <a:xfrm>
            <a:off x="4864608" y="35295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dinámico de bitrate según ancho de banda del cliente.</a:t>
            </a:r>
            <a:endParaRPr lang="en-US" sz="950" dirty="0"/>
          </a:p>
        </p:txBody>
      </p:sp>
      <p:sp>
        <p:nvSpPr>
          <p:cNvPr id="42" name="Shape 34"/>
          <p:cNvSpPr/>
          <p:nvPr/>
        </p:nvSpPr>
        <p:spPr>
          <a:xfrm>
            <a:off x="4709160" y="3858768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3" name="Shape 35"/>
          <p:cNvSpPr/>
          <p:nvPr/>
        </p:nvSpPr>
        <p:spPr>
          <a:xfrm>
            <a:off x="4709160" y="3858768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Text 36"/>
          <p:cNvSpPr/>
          <p:nvPr/>
        </p:nvSpPr>
        <p:spPr>
          <a:xfrm>
            <a:off x="4864608" y="38953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Letras sincronizadas</a:t>
            </a:r>
            <a:endParaRPr lang="en-US" sz="1050" dirty="0"/>
          </a:p>
        </p:txBody>
      </p:sp>
      <p:sp>
        <p:nvSpPr>
          <p:cNvPr id="45" name="Text 37"/>
          <p:cNvSpPr/>
          <p:nvPr/>
        </p:nvSpPr>
        <p:spPr>
          <a:xfrm>
            <a:off x="486460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APIs de letras (LyricFind, Genius) con LRC.</a:t>
            </a:r>
            <a:endParaRPr lang="en-US" sz="950" dirty="0"/>
          </a:p>
        </p:txBody>
      </p:sp>
      <p:sp>
        <p:nvSpPr>
          <p:cNvPr id="46" name="Shape 38"/>
          <p:cNvSpPr/>
          <p:nvPr/>
        </p:nvSpPr>
        <p:spPr>
          <a:xfrm>
            <a:off x="4709160" y="4480560"/>
            <a:ext cx="4114800" cy="548640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7" name="Shape 39"/>
          <p:cNvSpPr/>
          <p:nvPr/>
        </p:nvSpPr>
        <p:spPr>
          <a:xfrm>
            <a:off x="4709160" y="4480560"/>
            <a:ext cx="45720" cy="5486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Text 40"/>
          <p:cNvSpPr/>
          <p:nvPr/>
        </p:nvSpPr>
        <p:spPr>
          <a:xfrm>
            <a:off x="4864608" y="45171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</a:t>
            </a:r>
            <a:endParaRPr lang="en-US" sz="1050" dirty="0"/>
          </a:p>
        </p:txBody>
      </p:sp>
      <p:sp>
        <p:nvSpPr>
          <p:cNvPr id="49" name="Text 41"/>
          <p:cNvSpPr/>
          <p:nvPr/>
        </p:nvSpPr>
        <p:spPr>
          <a:xfrm>
            <a:off x="4864608" y="4773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recomendación basado en historial de escucha.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4544568" y="0"/>
            <a:ext cx="54864" cy="5143500"/>
          </a:xfrm>
          <a:prstGeom prst="rect">
            <a:avLst/>
          </a:prstGeom>
          <a:solidFill>
            <a:srgbClr val="1DB954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1920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PulseStream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36576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DB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música. Tus reglas. Tu servidor.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3246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846320" y="1417320"/>
            <a:ext cx="3931920" cy="47548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4846320" y="1417320"/>
            <a:ext cx="4572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010912" y="14813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10912" y="16824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github.com/ByKoan/PulseStream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46320" y="1984248"/>
            <a:ext cx="3931920" cy="47548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4846320" y="1984248"/>
            <a:ext cx="4572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5010912" y="204825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Android: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010912" y="224942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Releases → APK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846320" y="2551176"/>
            <a:ext cx="3931920" cy="47548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4846320" y="2551176"/>
            <a:ext cx="4572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5010912" y="26151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010912" y="28163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Memoria.docx (en el repositorio)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846320" y="3118104"/>
            <a:ext cx="3931920" cy="47548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9"/>
          <p:cNvSpPr/>
          <p:nvPr/>
        </p:nvSpPr>
        <p:spPr>
          <a:xfrm>
            <a:off x="4846320" y="3118104"/>
            <a:ext cx="4572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5010912" y="31821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Versión: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10912" y="33832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Final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846320" y="3685032"/>
            <a:ext cx="3931920" cy="475488"/>
          </a:xfrm>
          <a:prstGeom prst="rect">
            <a:avLst/>
          </a:prstGeom>
          <a:solidFill>
            <a:srgbClr val="1C2433"/>
          </a:solidFill>
          <a:ln/>
          <a:effectLst>
            <a:outerShdw blurRad="1270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846320" y="3685032"/>
            <a:ext cx="4572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5010912" y="3749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Licencia: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10912" y="39502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uso comercial (ver LICENSE)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2835</Words>
  <Application>Microsoft Office PowerPoint</Application>
  <PresentationFormat>Presentación en pantalla (16:9)</PresentationFormat>
  <Paragraphs>513</Paragraphs>
  <Slides>20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PulseStream – TFG</dc:title>
  <dc:subject>PptxGenJS Presentation</dc:subject>
  <dc:creator>ByKoan</dc:creator>
  <cp:lastModifiedBy>DIEGO VELASCO AYUSO</cp:lastModifiedBy>
  <cp:revision>2</cp:revision>
  <dcterms:created xsi:type="dcterms:W3CDTF">2026-05-25T08:13:45Z</dcterms:created>
  <dcterms:modified xsi:type="dcterms:W3CDTF">2026-05-25T11:37:17Z</dcterms:modified>
</cp:coreProperties>
</file>